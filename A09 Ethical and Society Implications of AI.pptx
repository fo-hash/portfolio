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Average"/>
      <p:regular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verage-regular.fntdata"/><Relationship Id="rId14" Type="http://schemas.openxmlformats.org/officeDocument/2006/relationships/slide" Target="slides/slide9.xml"/><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72a3c9db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72a3c9db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72a3c9db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72a3c9db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72a3c9db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72a3c9db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72a3c9dbd_0_1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72a3c9dbd_0_1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72a3c9dbd_0_1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72a3c9dbd_0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72a3c9dbd_0_1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72a3c9dbd_0_1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72a3c9dbd_0_1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72a3c9dbd_0_1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72a3c9dbd_0_1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72a3c9dbd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arxiv.org/abs/2005.14165" TargetMode="External"/><Relationship Id="rId4" Type="http://schemas.openxmlformats.org/officeDocument/2006/relationships/hyperlink" Target="https://arxiv.org/abs/2005.14165" TargetMode="External"/><Relationship Id="rId11" Type="http://schemas.openxmlformats.org/officeDocument/2006/relationships/hyperlink" Target="https://oecd.ai/en/ai-principles" TargetMode="External"/><Relationship Id="rId10" Type="http://schemas.openxmlformats.org/officeDocument/2006/relationships/hyperlink" Target="https://www.weforum.org/reports/the-future-of-jobs-report-2023" TargetMode="External"/><Relationship Id="rId12" Type="http://schemas.openxmlformats.org/officeDocument/2006/relationships/hyperlink" Target="https://oecd.ai/en/ai-principles" TargetMode="External"/><Relationship Id="rId9" Type="http://schemas.openxmlformats.org/officeDocument/2006/relationships/hyperlink" Target="https://www.weforum.org/reports/the-future-of-jobs-report-2023" TargetMode="External"/><Relationship Id="rId5" Type="http://schemas.openxmlformats.org/officeDocument/2006/relationships/hyperlink" Target="https://doi.org/10.1145/3442188.3445922" TargetMode="External"/><Relationship Id="rId6" Type="http://schemas.openxmlformats.org/officeDocument/2006/relationships/hyperlink" Target="https://doi.org/10.1145/3442188.3445922" TargetMode="External"/><Relationship Id="rId7" Type="http://schemas.openxmlformats.org/officeDocument/2006/relationships/hyperlink" Target="https://arxiv.org/abs/1706.03762" TargetMode="External"/><Relationship Id="rId8" Type="http://schemas.openxmlformats.org/officeDocument/2006/relationships/hyperlink" Target="https://arxiv.org/abs/1706.0376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1964975"/>
            <a:ext cx="7801500" cy="1730100"/>
          </a:xfrm>
          <a:prstGeom prst="rect">
            <a:avLst/>
          </a:prstGeom>
        </p:spPr>
        <p:txBody>
          <a:bodyPr anchorCtr="0" anchor="ctr" bIns="91425" lIns="91425" spcFirstLastPara="1" rIns="91425" wrap="square" tIns="91425">
            <a:noAutofit/>
          </a:bodyPr>
          <a:lstStyle/>
          <a:p>
            <a:pPr indent="0" lvl="0" marL="0" rtl="0" algn="ctr">
              <a:lnSpc>
                <a:spcPct val="130000"/>
              </a:lnSpc>
              <a:spcBef>
                <a:spcPts val="0"/>
              </a:spcBef>
              <a:spcAft>
                <a:spcPts val="0"/>
              </a:spcAft>
              <a:buSzPts val="990"/>
              <a:buNone/>
            </a:pPr>
            <a:r>
              <a:rPr b="1" lang="en-GB" sz="3000">
                <a:solidFill>
                  <a:srgbClr val="273540"/>
                </a:solidFill>
                <a:highlight>
                  <a:srgbClr val="FFFFFF"/>
                </a:highlight>
              </a:rPr>
              <a:t>. By Funsho Orogun .</a:t>
            </a:r>
            <a:endParaRPr b="1" sz="3000"/>
          </a:p>
        </p:txBody>
      </p:sp>
      <p:sp>
        <p:nvSpPr>
          <p:cNvPr id="60" name="Google Shape;60;p13"/>
          <p:cNvSpPr txBox="1"/>
          <p:nvPr>
            <p:ph idx="1" type="subTitle"/>
          </p:nvPr>
        </p:nvSpPr>
        <p:spPr>
          <a:xfrm>
            <a:off x="671250" y="1448426"/>
            <a:ext cx="7801500" cy="792600"/>
          </a:xfrm>
          <a:prstGeom prst="rect">
            <a:avLst/>
          </a:prstGeom>
        </p:spPr>
        <p:txBody>
          <a:bodyPr anchorCtr="0" anchor="t" bIns="91425" lIns="91425" spcFirstLastPara="1" rIns="91425" wrap="square" tIns="91425">
            <a:normAutofit fontScale="25000" lnSpcReduction="20000"/>
          </a:bodyPr>
          <a:lstStyle/>
          <a:p>
            <a:pPr indent="0" lvl="0" marL="0" rtl="0" algn="ctr">
              <a:lnSpc>
                <a:spcPct val="115000"/>
              </a:lnSpc>
              <a:spcBef>
                <a:spcPts val="0"/>
              </a:spcBef>
              <a:spcAft>
                <a:spcPts val="0"/>
              </a:spcAft>
              <a:buNone/>
            </a:pPr>
            <a:r>
              <a:rPr b="1" lang="en-GB" sz="18450">
                <a:solidFill>
                  <a:srgbClr val="273540"/>
                </a:solidFill>
                <a:highlight>
                  <a:srgbClr val="FFFFFF"/>
                </a:highlight>
                <a:latin typeface="Oswald"/>
                <a:ea typeface="Oswald"/>
                <a:cs typeface="Oswald"/>
                <a:sym typeface="Oswald"/>
              </a:rPr>
              <a:t>. AI in hiring and recruitment .</a:t>
            </a:r>
            <a:endParaRPr b="1" sz="18450">
              <a:solidFill>
                <a:srgbClr val="273540"/>
              </a:solidFill>
              <a:highlight>
                <a:srgbClr val="FFFFFF"/>
              </a:highlight>
              <a:latin typeface="Oswald"/>
              <a:ea typeface="Oswald"/>
              <a:cs typeface="Oswald"/>
              <a:sym typeface="Oswald"/>
            </a:endParaRPr>
          </a:p>
          <a:p>
            <a:pPr indent="0" lvl="0" marL="0" rtl="0" algn="ctr">
              <a:spcBef>
                <a:spcPts val="5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50000"/>
              </a:lnSpc>
              <a:spcBef>
                <a:spcPts val="500"/>
              </a:spcBef>
              <a:spcAft>
                <a:spcPts val="500"/>
              </a:spcAft>
              <a:buNone/>
            </a:pPr>
            <a:r>
              <a:rPr lang="en-GB" sz="2400">
                <a:solidFill>
                  <a:srgbClr val="273540"/>
                </a:solidFill>
                <a:highlight>
                  <a:srgbClr val="FFFFFF"/>
                </a:highlight>
              </a:rPr>
              <a:t>Overview of the AI System</a:t>
            </a:r>
            <a:endParaRPr sz="2400"/>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12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Uses machine learning and natural language processing to analyze resumes, job descriptions, and candidate profiles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Matches candidates to job requirements based on skills, experience, and keywords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Used in Applicant Tracking Systems (ATS), HR platforms, and recruiting tools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Goal is to improve hiring efficiency</a:t>
            </a:r>
            <a:endParaRPr sz="2400">
              <a:solidFill>
                <a:schemeClr val="dk1"/>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50000"/>
              </a:lnSpc>
              <a:spcBef>
                <a:spcPts val="500"/>
              </a:spcBef>
              <a:spcAft>
                <a:spcPts val="0"/>
              </a:spcAft>
              <a:buClr>
                <a:schemeClr val="dk1"/>
              </a:buClr>
              <a:buSzPts val="1100"/>
              <a:buFont typeface="Arial"/>
              <a:buNone/>
            </a:pPr>
            <a:r>
              <a:rPr lang="en-GB" sz="2400">
                <a:solidFill>
                  <a:srgbClr val="273540"/>
                </a:solidFill>
                <a:highlight>
                  <a:srgbClr val="FFFFFF"/>
                </a:highlight>
              </a:rPr>
              <a:t>Benefits and Positive Impact</a:t>
            </a:r>
            <a:endParaRPr sz="2400">
              <a:solidFill>
                <a:srgbClr val="273540"/>
              </a:solidFill>
              <a:highlight>
                <a:srgbClr val="FFFFFF"/>
              </a:highlight>
            </a:endParaRPr>
          </a:p>
          <a:p>
            <a:pPr indent="0" lvl="0" marL="0" rtl="0" algn="l">
              <a:spcBef>
                <a:spcPts val="500"/>
              </a:spcBef>
              <a:spcAft>
                <a:spcPts val="0"/>
              </a:spcAft>
              <a:buNone/>
            </a:pPr>
            <a:r>
              <a:t/>
            </a:r>
            <a:endParaRPr/>
          </a:p>
        </p:txBody>
      </p:sp>
      <p:sp>
        <p:nvSpPr>
          <p:cNvPr id="72" name="Google Shape;72;p15"/>
          <p:cNvSpPr txBox="1"/>
          <p:nvPr>
            <p:ph idx="1" type="body"/>
          </p:nvPr>
        </p:nvSpPr>
        <p:spPr>
          <a:xfrm>
            <a:off x="311700" y="1152475"/>
            <a:ext cx="4517400" cy="3990900"/>
          </a:xfrm>
          <a:prstGeom prst="rect">
            <a:avLst/>
          </a:prstGeom>
        </p:spPr>
        <p:txBody>
          <a:bodyPr anchorCtr="0" anchor="t" bIns="91425" lIns="91425" spcFirstLastPara="1" rIns="91425" wrap="square" tIns="91425">
            <a:noAutofit/>
          </a:bodyPr>
          <a:lstStyle/>
          <a:p>
            <a:pPr indent="-381000" lvl="0" marL="457200" rtl="0" algn="l">
              <a:spcBef>
                <a:spcPts val="12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Speeds up resume screening </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Helps recruiters </a:t>
            </a:r>
            <a:r>
              <a:rPr lang="en-GB" sz="2400">
                <a:solidFill>
                  <a:schemeClr val="dk1"/>
                </a:solidFill>
                <a:latin typeface="Oswald"/>
                <a:ea typeface="Oswald"/>
                <a:cs typeface="Oswald"/>
                <a:sym typeface="Oswald"/>
              </a:rPr>
              <a:t>manage large volumes of applications efficiently</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reduce unconscious human bias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Enhances candidate experience with faster responses and automated updates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Supports data-driven hiring decisions</a:t>
            </a:r>
            <a:endParaRPr sz="2400">
              <a:solidFill>
                <a:schemeClr val="dk1"/>
              </a:solidFill>
              <a:latin typeface="Oswald"/>
              <a:ea typeface="Oswald"/>
              <a:cs typeface="Oswald"/>
              <a:sym typeface="Oswald"/>
            </a:endParaRPr>
          </a:p>
          <a:p>
            <a:pPr indent="0" lvl="0" marL="0" rtl="0" algn="l">
              <a:spcBef>
                <a:spcPts val="1200"/>
              </a:spcBef>
              <a:spcAft>
                <a:spcPts val="1200"/>
              </a:spcAft>
              <a:buNone/>
            </a:pPr>
            <a:r>
              <a:t/>
            </a:r>
            <a:endParaRPr/>
          </a:p>
        </p:txBody>
      </p:sp>
      <p:pic>
        <p:nvPicPr>
          <p:cNvPr id="73" name="Google Shape;73;p15"/>
          <p:cNvPicPr preferRelativeResize="0"/>
          <p:nvPr/>
        </p:nvPicPr>
        <p:blipFill>
          <a:blip r:embed="rId3">
            <a:alphaModFix/>
          </a:blip>
          <a:stretch>
            <a:fillRect/>
          </a:stretch>
        </p:blipFill>
        <p:spPr>
          <a:xfrm>
            <a:off x="4701150" y="956688"/>
            <a:ext cx="4315050" cy="3230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50000"/>
              </a:lnSpc>
              <a:spcBef>
                <a:spcPts val="500"/>
              </a:spcBef>
              <a:spcAft>
                <a:spcPts val="0"/>
              </a:spcAft>
              <a:buClr>
                <a:schemeClr val="dk1"/>
              </a:buClr>
              <a:buSzPts val="1100"/>
              <a:buFont typeface="Arial"/>
              <a:buNone/>
            </a:pPr>
            <a:r>
              <a:rPr lang="en-GB" sz="2400">
                <a:solidFill>
                  <a:srgbClr val="273540"/>
                </a:solidFill>
                <a:highlight>
                  <a:srgbClr val="FFFFFF"/>
                </a:highlight>
              </a:rPr>
              <a:t>Ethical Issues</a:t>
            </a:r>
            <a:endParaRPr sz="2400">
              <a:solidFill>
                <a:srgbClr val="273540"/>
              </a:solidFill>
              <a:highlight>
                <a:srgbClr val="FFFFFF"/>
              </a:highlight>
            </a:endParaRPr>
          </a:p>
          <a:p>
            <a:pPr indent="0" lvl="0" marL="0" rtl="0" algn="l">
              <a:spcBef>
                <a:spcPts val="500"/>
              </a:spcBef>
              <a:spcAft>
                <a:spcPts val="0"/>
              </a:spcAft>
              <a:buNone/>
            </a:pPr>
            <a:r>
              <a:t/>
            </a:r>
            <a:endParaRPr/>
          </a:p>
        </p:txBody>
      </p:sp>
      <p:sp>
        <p:nvSpPr>
          <p:cNvPr id="79" name="Google Shape;79;p16"/>
          <p:cNvSpPr txBox="1"/>
          <p:nvPr>
            <p:ph idx="1" type="body"/>
          </p:nvPr>
        </p:nvSpPr>
        <p:spPr>
          <a:xfrm>
            <a:off x="311700" y="1195075"/>
            <a:ext cx="8520600" cy="3223800"/>
          </a:xfrm>
          <a:prstGeom prst="rect">
            <a:avLst/>
          </a:prstGeom>
        </p:spPr>
        <p:txBody>
          <a:bodyPr anchorCtr="0" anchor="t" bIns="91425" lIns="91425" spcFirstLastPara="1" rIns="91425" wrap="square" tIns="91425">
            <a:noAutofit/>
          </a:bodyPr>
          <a:lstStyle/>
          <a:p>
            <a:pPr indent="-381000" lvl="0" marL="457200" rtl="0" algn="l">
              <a:spcBef>
                <a:spcPts val="1200"/>
              </a:spcBef>
              <a:spcAft>
                <a:spcPts val="0"/>
              </a:spcAft>
              <a:buClr>
                <a:schemeClr val="dk1"/>
              </a:buClr>
              <a:buSzPts val="2400"/>
              <a:buFont typeface="Arial"/>
              <a:buChar char="●"/>
            </a:pPr>
            <a:r>
              <a:rPr b="1" lang="en-GB" sz="2400">
                <a:solidFill>
                  <a:schemeClr val="dk1"/>
                </a:solidFill>
                <a:latin typeface="Oswald"/>
                <a:ea typeface="Oswald"/>
                <a:cs typeface="Oswald"/>
                <a:sym typeface="Oswald"/>
              </a:rPr>
              <a:t>Bias in hiring decisions:</a:t>
            </a:r>
            <a:r>
              <a:rPr lang="en-GB" sz="2400">
                <a:solidFill>
                  <a:schemeClr val="dk1"/>
                </a:solidFill>
                <a:latin typeface="Oswald"/>
                <a:ea typeface="Oswald"/>
                <a:cs typeface="Oswald"/>
                <a:sym typeface="Oswald"/>
              </a:rPr>
              <a:t> historical discrimination in training data</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Arial"/>
              <a:buChar char="●"/>
            </a:pPr>
            <a:r>
              <a:rPr b="1" lang="en-GB" sz="2400">
                <a:solidFill>
                  <a:schemeClr val="dk1"/>
                </a:solidFill>
                <a:latin typeface="Oswald"/>
                <a:ea typeface="Oswald"/>
                <a:cs typeface="Oswald"/>
                <a:sym typeface="Oswald"/>
              </a:rPr>
              <a:t>Lack of transparency: </a:t>
            </a:r>
            <a:r>
              <a:rPr lang="en-GB" sz="2400">
                <a:solidFill>
                  <a:schemeClr val="dk1"/>
                </a:solidFill>
                <a:latin typeface="Oswald"/>
                <a:ea typeface="Oswald"/>
                <a:cs typeface="Oswald"/>
                <a:sym typeface="Oswald"/>
              </a:rPr>
              <a:t>Lack of reason for rejection</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Arial"/>
              <a:buChar char="●"/>
            </a:pPr>
            <a:r>
              <a:rPr b="1" lang="en-GB" sz="2400">
                <a:solidFill>
                  <a:schemeClr val="dk1"/>
                </a:solidFill>
                <a:latin typeface="Oswald"/>
                <a:ea typeface="Oswald"/>
                <a:cs typeface="Oswald"/>
                <a:sym typeface="Oswald"/>
              </a:rPr>
              <a:t>Privacy concerns:</a:t>
            </a:r>
            <a:r>
              <a:rPr lang="en-GB" sz="2400">
                <a:solidFill>
                  <a:schemeClr val="dk1"/>
                </a:solidFill>
                <a:latin typeface="Oswald"/>
                <a:ea typeface="Oswald"/>
                <a:cs typeface="Oswald"/>
                <a:sym typeface="Oswald"/>
              </a:rPr>
              <a:t> Sensitive data (resume) may be stored or misused</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Arial"/>
              <a:buChar char="●"/>
            </a:pPr>
            <a:r>
              <a:rPr b="1" lang="en-GB" sz="2400">
                <a:solidFill>
                  <a:schemeClr val="dk1"/>
                </a:solidFill>
                <a:latin typeface="Oswald"/>
                <a:ea typeface="Oswald"/>
                <a:cs typeface="Oswald"/>
                <a:sym typeface="Oswald"/>
              </a:rPr>
              <a:t>Fairness issues:</a:t>
            </a:r>
            <a:r>
              <a:rPr lang="en-GB" sz="2400">
                <a:solidFill>
                  <a:schemeClr val="dk1"/>
                </a:solidFill>
                <a:latin typeface="Oswald"/>
                <a:ea typeface="Oswald"/>
                <a:cs typeface="Oswald"/>
                <a:sym typeface="Oswald"/>
              </a:rPr>
              <a:t> Might favor certain Schools, keywords, or backgrounds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Arial"/>
              <a:buChar char="●"/>
            </a:pPr>
            <a:r>
              <a:rPr b="1" lang="en-GB" sz="2400">
                <a:solidFill>
                  <a:schemeClr val="dk1"/>
                </a:solidFill>
                <a:latin typeface="Oswald"/>
                <a:ea typeface="Oswald"/>
                <a:cs typeface="Oswald"/>
                <a:sym typeface="Oswald"/>
              </a:rPr>
              <a:t>Accountability gaps:</a:t>
            </a:r>
            <a:r>
              <a:rPr lang="en-GB" sz="2400">
                <a:solidFill>
                  <a:schemeClr val="dk1"/>
                </a:solidFill>
                <a:latin typeface="Oswald"/>
                <a:ea typeface="Oswald"/>
                <a:cs typeface="Oswald"/>
                <a:sym typeface="Oswald"/>
              </a:rPr>
              <a:t> Unclear who is responsible for biased or incorrect hiring decisions (company vs. vendor)</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Arial"/>
              <a:buChar char="●"/>
            </a:pPr>
            <a:r>
              <a:rPr b="1" lang="en-GB" sz="2400">
                <a:solidFill>
                  <a:schemeClr val="dk1"/>
                </a:solidFill>
                <a:latin typeface="Oswald"/>
                <a:ea typeface="Oswald"/>
                <a:cs typeface="Oswald"/>
                <a:sym typeface="Oswald"/>
              </a:rPr>
              <a:t>Explainability challenges:</a:t>
            </a:r>
            <a:r>
              <a:rPr lang="en-GB" sz="2400">
                <a:solidFill>
                  <a:schemeClr val="dk1"/>
                </a:solidFill>
                <a:latin typeface="Oswald"/>
                <a:ea typeface="Oswald"/>
                <a:cs typeface="Oswald"/>
                <a:sym typeface="Oswald"/>
              </a:rPr>
              <a:t> Difficult to understand how candidate rankings are produced</a:t>
            </a:r>
            <a:endParaRPr sz="2400">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50000"/>
              </a:lnSpc>
              <a:spcBef>
                <a:spcPts val="500"/>
              </a:spcBef>
              <a:spcAft>
                <a:spcPts val="0"/>
              </a:spcAft>
              <a:buNone/>
            </a:pPr>
            <a:r>
              <a:rPr lang="en-GB" sz="2400">
                <a:solidFill>
                  <a:srgbClr val="273540"/>
                </a:solidFill>
                <a:highlight>
                  <a:srgbClr val="FFFFFF"/>
                </a:highlight>
              </a:rPr>
              <a:t>Societal Implications</a:t>
            </a:r>
            <a:endParaRPr sz="2400">
              <a:solidFill>
                <a:srgbClr val="273540"/>
              </a:solidFill>
              <a:highlight>
                <a:srgbClr val="FFFFFF"/>
              </a:highlight>
            </a:endParaRPr>
          </a:p>
          <a:p>
            <a:pPr indent="0" lvl="0" marL="0" rtl="0" algn="l">
              <a:spcBef>
                <a:spcPts val="500"/>
              </a:spcBef>
              <a:spcAft>
                <a:spcPts val="0"/>
              </a:spcAft>
              <a:buNone/>
            </a:pPr>
            <a:r>
              <a:t/>
            </a:r>
            <a:endParaRPr/>
          </a:p>
        </p:txBody>
      </p:sp>
      <p:sp>
        <p:nvSpPr>
          <p:cNvPr id="85" name="Google Shape;85;p17"/>
          <p:cNvSpPr txBox="1"/>
          <p:nvPr>
            <p:ph idx="1" type="body"/>
          </p:nvPr>
        </p:nvSpPr>
        <p:spPr>
          <a:xfrm>
            <a:off x="311700" y="1152475"/>
            <a:ext cx="8634900" cy="3416400"/>
          </a:xfrm>
          <a:prstGeom prst="rect">
            <a:avLst/>
          </a:prstGeom>
        </p:spPr>
        <p:txBody>
          <a:bodyPr anchorCtr="0" anchor="t" bIns="91425" lIns="91425" spcFirstLastPara="1" rIns="91425" wrap="square" tIns="91425">
            <a:noAutofit/>
          </a:bodyPr>
          <a:lstStyle/>
          <a:p>
            <a:pPr indent="-381000" lvl="0" marL="457200" rtl="0" algn="l">
              <a:spcBef>
                <a:spcPts val="12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Reduces need for some entry-level recruiting tasks (resume screening, scheduling)</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May disadvantage candidates unfamiliar with ATS optimization (keyword bias)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Could widen inequality between tech-savvy and non-tech-savvy applicants</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Increases reliance on automated systems in employment decisions</a:t>
            </a:r>
            <a:endParaRPr sz="2400">
              <a:solidFill>
                <a:schemeClr val="dk1"/>
              </a:solidFill>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50000"/>
              </a:lnSpc>
              <a:spcBef>
                <a:spcPts val="500"/>
              </a:spcBef>
              <a:spcAft>
                <a:spcPts val="0"/>
              </a:spcAft>
              <a:buNone/>
            </a:pPr>
            <a:r>
              <a:rPr lang="en-GB" sz="2400">
                <a:solidFill>
                  <a:srgbClr val="273540"/>
                </a:solidFill>
                <a:highlight>
                  <a:srgbClr val="FFFFFF"/>
                </a:highlight>
              </a:rPr>
              <a:t>Risks and Challenges</a:t>
            </a:r>
            <a:endParaRPr sz="2400">
              <a:solidFill>
                <a:srgbClr val="273540"/>
              </a:solidFill>
              <a:highlight>
                <a:srgbClr val="FFFFFF"/>
              </a:highlight>
            </a:endParaRPr>
          </a:p>
          <a:p>
            <a:pPr indent="0" lvl="0" marL="0" rtl="0" algn="l">
              <a:spcBef>
                <a:spcPts val="500"/>
              </a:spcBef>
              <a:spcAft>
                <a:spcPts val="0"/>
              </a:spcAft>
              <a:buNone/>
            </a:pPr>
            <a:r>
              <a:t/>
            </a:r>
            <a:endParaRPr/>
          </a:p>
        </p:txBody>
      </p:sp>
      <p:sp>
        <p:nvSpPr>
          <p:cNvPr id="91" name="Google Shape;91;p18"/>
          <p:cNvSpPr txBox="1"/>
          <p:nvPr>
            <p:ph idx="1" type="body"/>
          </p:nvPr>
        </p:nvSpPr>
        <p:spPr>
          <a:xfrm>
            <a:off x="311700" y="1152475"/>
            <a:ext cx="5042700" cy="3990900"/>
          </a:xfrm>
          <a:prstGeom prst="rect">
            <a:avLst/>
          </a:prstGeom>
        </p:spPr>
        <p:txBody>
          <a:bodyPr anchorCtr="0" anchor="t" bIns="91425" lIns="91425" spcFirstLastPara="1" rIns="91425" wrap="square" tIns="91425">
            <a:normAutofit fontScale="55000" lnSpcReduction="20000"/>
          </a:bodyPr>
          <a:lstStyle/>
          <a:p>
            <a:pPr indent="-347345" lvl="0" marL="457200" rtl="0" algn="l">
              <a:spcBef>
                <a:spcPts val="1200"/>
              </a:spcBef>
              <a:spcAft>
                <a:spcPts val="0"/>
              </a:spcAft>
              <a:buClr>
                <a:schemeClr val="dk1"/>
              </a:buClr>
              <a:buSzPct val="100000"/>
              <a:buFont typeface="Oswald"/>
              <a:buChar char="●"/>
            </a:pPr>
            <a:r>
              <a:rPr lang="en-GB" sz="3400">
                <a:solidFill>
                  <a:schemeClr val="dk1"/>
                </a:solidFill>
                <a:latin typeface="Oswald"/>
                <a:ea typeface="Oswald"/>
                <a:cs typeface="Oswald"/>
                <a:sym typeface="Oswald"/>
              </a:rPr>
              <a:t>Biased hiring outcomes leading to unfair exclusion of qualified candidates</a:t>
            </a:r>
            <a:endParaRPr sz="3400">
              <a:solidFill>
                <a:schemeClr val="dk1"/>
              </a:solidFill>
              <a:latin typeface="Oswald"/>
              <a:ea typeface="Oswald"/>
              <a:cs typeface="Oswald"/>
              <a:sym typeface="Oswald"/>
            </a:endParaRPr>
          </a:p>
          <a:p>
            <a:pPr indent="-347345" lvl="0" marL="457200" rtl="0" algn="l">
              <a:spcBef>
                <a:spcPts val="0"/>
              </a:spcBef>
              <a:spcAft>
                <a:spcPts val="0"/>
              </a:spcAft>
              <a:buClr>
                <a:schemeClr val="dk1"/>
              </a:buClr>
              <a:buSzPct val="100000"/>
              <a:buFont typeface="Oswald"/>
              <a:buChar char="●"/>
            </a:pPr>
            <a:r>
              <a:rPr lang="en-GB" sz="3400">
                <a:solidFill>
                  <a:schemeClr val="dk1"/>
                </a:solidFill>
                <a:latin typeface="Oswald"/>
                <a:ea typeface="Oswald"/>
                <a:cs typeface="Oswald"/>
                <a:sym typeface="Oswald"/>
              </a:rPr>
              <a:t>Over-reliance on AI rankings instead of human judgment</a:t>
            </a:r>
            <a:endParaRPr sz="3400">
              <a:solidFill>
                <a:schemeClr val="dk1"/>
              </a:solidFill>
              <a:latin typeface="Oswald"/>
              <a:ea typeface="Oswald"/>
              <a:cs typeface="Oswald"/>
              <a:sym typeface="Oswald"/>
            </a:endParaRPr>
          </a:p>
          <a:p>
            <a:pPr indent="-347345" lvl="0" marL="457200" rtl="0" algn="l">
              <a:spcBef>
                <a:spcPts val="0"/>
              </a:spcBef>
              <a:spcAft>
                <a:spcPts val="0"/>
              </a:spcAft>
              <a:buClr>
                <a:schemeClr val="dk1"/>
              </a:buClr>
              <a:buSzPct val="100000"/>
              <a:buFont typeface="Oswald"/>
              <a:buChar char="●"/>
            </a:pPr>
            <a:r>
              <a:rPr lang="en-GB" sz="3400">
                <a:solidFill>
                  <a:schemeClr val="dk1"/>
                </a:solidFill>
                <a:latin typeface="Oswald"/>
                <a:ea typeface="Oswald"/>
                <a:cs typeface="Oswald"/>
                <a:sym typeface="Oswald"/>
              </a:rPr>
              <a:t>Manipulation of resumes to “game” AI keyword systems</a:t>
            </a:r>
            <a:endParaRPr sz="3400">
              <a:solidFill>
                <a:schemeClr val="dk1"/>
              </a:solidFill>
              <a:latin typeface="Oswald"/>
              <a:ea typeface="Oswald"/>
              <a:cs typeface="Oswald"/>
              <a:sym typeface="Oswald"/>
            </a:endParaRPr>
          </a:p>
          <a:p>
            <a:pPr indent="-347345" lvl="0" marL="457200" rtl="0" algn="l">
              <a:spcBef>
                <a:spcPts val="0"/>
              </a:spcBef>
              <a:spcAft>
                <a:spcPts val="0"/>
              </a:spcAft>
              <a:buClr>
                <a:schemeClr val="dk1"/>
              </a:buClr>
              <a:buSzPct val="100000"/>
              <a:buFont typeface="Oswald"/>
              <a:buChar char="●"/>
            </a:pPr>
            <a:r>
              <a:rPr lang="en-GB" sz="3400">
                <a:solidFill>
                  <a:schemeClr val="dk1"/>
                </a:solidFill>
                <a:latin typeface="Oswald"/>
                <a:ea typeface="Oswald"/>
                <a:cs typeface="Oswald"/>
                <a:sym typeface="Oswald"/>
              </a:rPr>
              <a:t>Privacy risks from storing large amounts of applicant data</a:t>
            </a:r>
            <a:endParaRPr sz="3400">
              <a:solidFill>
                <a:schemeClr val="dk1"/>
              </a:solidFill>
              <a:latin typeface="Oswald"/>
              <a:ea typeface="Oswald"/>
              <a:cs typeface="Oswald"/>
              <a:sym typeface="Oswald"/>
            </a:endParaRPr>
          </a:p>
          <a:p>
            <a:pPr indent="-347345" lvl="0" marL="457200" rtl="0" algn="l">
              <a:spcBef>
                <a:spcPts val="0"/>
              </a:spcBef>
              <a:spcAft>
                <a:spcPts val="0"/>
              </a:spcAft>
              <a:buClr>
                <a:schemeClr val="dk1"/>
              </a:buClr>
              <a:buSzPct val="100000"/>
              <a:buFont typeface="Oswald"/>
              <a:buChar char="●"/>
            </a:pPr>
            <a:r>
              <a:rPr lang="en-GB" sz="3400">
                <a:solidFill>
                  <a:schemeClr val="dk1"/>
                </a:solidFill>
                <a:latin typeface="Oswald"/>
                <a:ea typeface="Oswald"/>
                <a:cs typeface="Oswald"/>
                <a:sym typeface="Oswald"/>
              </a:rPr>
              <a:t>Incorrect filtering out of strong candidates due to algorithm limitations</a:t>
            </a:r>
            <a:endParaRPr sz="3400">
              <a:solidFill>
                <a:schemeClr val="dk1"/>
              </a:solidFill>
              <a:latin typeface="Oswald"/>
              <a:ea typeface="Oswald"/>
              <a:cs typeface="Oswald"/>
              <a:sym typeface="Oswald"/>
            </a:endParaRPr>
          </a:p>
          <a:p>
            <a:pPr indent="-347345" lvl="0" marL="457200" rtl="0" algn="l">
              <a:spcBef>
                <a:spcPts val="0"/>
              </a:spcBef>
              <a:spcAft>
                <a:spcPts val="0"/>
              </a:spcAft>
              <a:buClr>
                <a:schemeClr val="dk1"/>
              </a:buClr>
              <a:buSzPct val="100000"/>
              <a:buFont typeface="Oswald"/>
              <a:buChar char="●"/>
            </a:pPr>
            <a:r>
              <a:rPr lang="en-GB" sz="3400">
                <a:solidFill>
                  <a:schemeClr val="dk1"/>
                </a:solidFill>
                <a:latin typeface="Oswald"/>
                <a:ea typeface="Oswald"/>
                <a:cs typeface="Oswald"/>
                <a:sym typeface="Oswald"/>
              </a:rPr>
              <a:t>Potential misuse in surveillance-style employee tracking after hiring</a:t>
            </a:r>
            <a:endParaRPr sz="3400">
              <a:solidFill>
                <a:schemeClr val="dk1"/>
              </a:solidFill>
              <a:latin typeface="Oswald"/>
              <a:ea typeface="Oswald"/>
              <a:cs typeface="Oswald"/>
              <a:sym typeface="Oswald"/>
            </a:endParaRPr>
          </a:p>
          <a:p>
            <a:pPr indent="0" lvl="0" marL="0" rtl="0" algn="l">
              <a:spcBef>
                <a:spcPts val="1200"/>
              </a:spcBef>
              <a:spcAft>
                <a:spcPts val="1200"/>
              </a:spcAft>
              <a:buNone/>
            </a:pPr>
            <a:r>
              <a:t/>
            </a:r>
            <a:endParaRPr/>
          </a:p>
        </p:txBody>
      </p:sp>
      <p:pic>
        <p:nvPicPr>
          <p:cNvPr id="92" name="Google Shape;92;p18"/>
          <p:cNvPicPr preferRelativeResize="0"/>
          <p:nvPr/>
        </p:nvPicPr>
        <p:blipFill>
          <a:blip r:embed="rId3">
            <a:alphaModFix/>
          </a:blip>
          <a:stretch>
            <a:fillRect/>
          </a:stretch>
        </p:blipFill>
        <p:spPr>
          <a:xfrm>
            <a:off x="5547199" y="0"/>
            <a:ext cx="3596802"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50000"/>
              </a:lnSpc>
              <a:spcBef>
                <a:spcPts val="500"/>
              </a:spcBef>
              <a:spcAft>
                <a:spcPts val="0"/>
              </a:spcAft>
              <a:buNone/>
            </a:pPr>
            <a:r>
              <a:rPr lang="en-GB" sz="2650">
                <a:solidFill>
                  <a:srgbClr val="273540"/>
                </a:solidFill>
                <a:highlight>
                  <a:srgbClr val="FFFFFF"/>
                </a:highlight>
              </a:rPr>
              <a:t>Recommendations</a:t>
            </a:r>
            <a:endParaRPr sz="2650">
              <a:solidFill>
                <a:srgbClr val="273540"/>
              </a:solidFill>
              <a:highlight>
                <a:srgbClr val="FFFFFF"/>
              </a:highlight>
            </a:endParaRPr>
          </a:p>
          <a:p>
            <a:pPr indent="0" lvl="0" marL="0" rtl="0" algn="l">
              <a:spcBef>
                <a:spcPts val="500"/>
              </a:spcBef>
              <a:spcAft>
                <a:spcPts val="0"/>
              </a:spcAft>
              <a:buNone/>
            </a:pPr>
            <a:r>
              <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66395" lvl="0" marL="457200" rtl="0" algn="l">
              <a:spcBef>
                <a:spcPts val="1200"/>
              </a:spcBef>
              <a:spcAft>
                <a:spcPts val="0"/>
              </a:spcAft>
              <a:buClr>
                <a:schemeClr val="dk1"/>
              </a:buClr>
              <a:buSzPct val="100000"/>
              <a:buFont typeface="Oswald"/>
              <a:buChar char="●"/>
            </a:pPr>
            <a:r>
              <a:rPr lang="en-GB" sz="2800">
                <a:solidFill>
                  <a:schemeClr val="dk1"/>
                </a:solidFill>
                <a:latin typeface="Oswald"/>
                <a:ea typeface="Oswald"/>
                <a:cs typeface="Oswald"/>
                <a:sym typeface="Oswald"/>
              </a:rPr>
              <a:t>Require regular bias audits of hiring algorithms</a:t>
            </a:r>
            <a:endParaRPr sz="2800">
              <a:solidFill>
                <a:schemeClr val="dk1"/>
              </a:solidFill>
              <a:latin typeface="Oswald"/>
              <a:ea typeface="Oswald"/>
              <a:cs typeface="Oswald"/>
              <a:sym typeface="Oswald"/>
            </a:endParaRPr>
          </a:p>
          <a:p>
            <a:pPr indent="-366395" lvl="0" marL="457200" rtl="0" algn="l">
              <a:spcBef>
                <a:spcPts val="0"/>
              </a:spcBef>
              <a:spcAft>
                <a:spcPts val="0"/>
              </a:spcAft>
              <a:buClr>
                <a:schemeClr val="dk1"/>
              </a:buClr>
              <a:buSzPct val="100000"/>
              <a:buFont typeface="Oswald"/>
              <a:buChar char="●"/>
            </a:pPr>
            <a:r>
              <a:rPr lang="en-GB" sz="2800">
                <a:solidFill>
                  <a:schemeClr val="dk1"/>
                </a:solidFill>
                <a:latin typeface="Oswald"/>
                <a:ea typeface="Oswald"/>
                <a:cs typeface="Oswald"/>
                <a:sym typeface="Oswald"/>
              </a:rPr>
              <a:t>Ensure transparency in AI-driven hiring decisions (clear rejection explanations where possible)</a:t>
            </a:r>
            <a:endParaRPr sz="2800">
              <a:solidFill>
                <a:schemeClr val="dk1"/>
              </a:solidFill>
              <a:latin typeface="Oswald"/>
              <a:ea typeface="Oswald"/>
              <a:cs typeface="Oswald"/>
              <a:sym typeface="Oswald"/>
            </a:endParaRPr>
          </a:p>
          <a:p>
            <a:pPr indent="-366395" lvl="0" marL="457200" rtl="0" algn="l">
              <a:spcBef>
                <a:spcPts val="0"/>
              </a:spcBef>
              <a:spcAft>
                <a:spcPts val="0"/>
              </a:spcAft>
              <a:buClr>
                <a:schemeClr val="dk1"/>
              </a:buClr>
              <a:buSzPct val="100000"/>
              <a:buFont typeface="Oswald"/>
              <a:buChar char="●"/>
            </a:pPr>
            <a:r>
              <a:rPr lang="en-GB" sz="2800">
                <a:solidFill>
                  <a:schemeClr val="dk1"/>
                </a:solidFill>
                <a:latin typeface="Oswald"/>
                <a:ea typeface="Oswald"/>
                <a:cs typeface="Oswald"/>
                <a:sym typeface="Oswald"/>
              </a:rPr>
              <a:t>Keep humans involved in final hiring decisions (human-in-the-loop systems)</a:t>
            </a:r>
            <a:endParaRPr sz="2800">
              <a:solidFill>
                <a:schemeClr val="dk1"/>
              </a:solidFill>
              <a:latin typeface="Oswald"/>
              <a:ea typeface="Oswald"/>
              <a:cs typeface="Oswald"/>
              <a:sym typeface="Oswald"/>
            </a:endParaRPr>
          </a:p>
          <a:p>
            <a:pPr indent="-366395" lvl="0" marL="457200" rtl="0" algn="l">
              <a:spcBef>
                <a:spcPts val="0"/>
              </a:spcBef>
              <a:spcAft>
                <a:spcPts val="0"/>
              </a:spcAft>
              <a:buClr>
                <a:schemeClr val="dk1"/>
              </a:buClr>
              <a:buSzPct val="100000"/>
              <a:buFont typeface="Oswald"/>
              <a:buChar char="●"/>
            </a:pPr>
            <a:r>
              <a:rPr lang="en-GB" sz="2800">
                <a:solidFill>
                  <a:schemeClr val="dk1"/>
                </a:solidFill>
                <a:latin typeface="Oswald"/>
                <a:ea typeface="Oswald"/>
                <a:cs typeface="Oswald"/>
                <a:sym typeface="Oswald"/>
              </a:rPr>
              <a:t>Use diverse and representative training data</a:t>
            </a:r>
            <a:endParaRPr sz="2800">
              <a:solidFill>
                <a:schemeClr val="dk1"/>
              </a:solidFill>
              <a:latin typeface="Oswald"/>
              <a:ea typeface="Oswald"/>
              <a:cs typeface="Oswald"/>
              <a:sym typeface="Oswald"/>
            </a:endParaRPr>
          </a:p>
          <a:p>
            <a:pPr indent="-366395" lvl="0" marL="457200" rtl="0" algn="l">
              <a:spcBef>
                <a:spcPts val="0"/>
              </a:spcBef>
              <a:spcAft>
                <a:spcPts val="0"/>
              </a:spcAft>
              <a:buClr>
                <a:schemeClr val="dk1"/>
              </a:buClr>
              <a:buSzPct val="100000"/>
              <a:buFont typeface="Oswald"/>
              <a:buChar char="●"/>
            </a:pPr>
            <a:r>
              <a:rPr lang="en-GB" sz="2800">
                <a:solidFill>
                  <a:schemeClr val="dk1"/>
                </a:solidFill>
                <a:latin typeface="Oswald"/>
                <a:ea typeface="Oswald"/>
                <a:cs typeface="Oswald"/>
                <a:sym typeface="Oswald"/>
              </a:rPr>
              <a:t>Strengthen data privacy protections for applicants</a:t>
            </a:r>
            <a:endParaRPr sz="2800">
              <a:solidFill>
                <a:schemeClr val="dk1"/>
              </a:solidFill>
              <a:latin typeface="Oswald"/>
              <a:ea typeface="Oswald"/>
              <a:cs typeface="Oswald"/>
              <a:sym typeface="Oswald"/>
            </a:endParaRPr>
          </a:p>
          <a:p>
            <a:pPr indent="-366395" lvl="0" marL="457200" rtl="0" algn="l">
              <a:spcBef>
                <a:spcPts val="0"/>
              </a:spcBef>
              <a:spcAft>
                <a:spcPts val="0"/>
              </a:spcAft>
              <a:buClr>
                <a:schemeClr val="dk1"/>
              </a:buClr>
              <a:buSzPct val="100000"/>
              <a:buFont typeface="Oswald"/>
              <a:buChar char="●"/>
            </a:pPr>
            <a:r>
              <a:rPr lang="en-GB" sz="2800">
                <a:solidFill>
                  <a:schemeClr val="dk1"/>
                </a:solidFill>
                <a:latin typeface="Oswald"/>
                <a:ea typeface="Oswald"/>
                <a:cs typeface="Oswald"/>
                <a:sym typeface="Oswald"/>
              </a:rPr>
              <a:t>Standardize fair hiring practices across AI tools and platforms</a:t>
            </a:r>
            <a:endParaRPr sz="2800">
              <a:solidFill>
                <a:schemeClr val="dk1"/>
              </a:solidFill>
              <a:latin typeface="Oswald"/>
              <a:ea typeface="Oswald"/>
              <a:cs typeface="Oswald"/>
              <a:sym typeface="Oswald"/>
            </a:endParaRPr>
          </a:p>
          <a:p>
            <a:pPr indent="-366395" lvl="0" marL="457200" rtl="0" algn="l">
              <a:spcBef>
                <a:spcPts val="0"/>
              </a:spcBef>
              <a:spcAft>
                <a:spcPts val="0"/>
              </a:spcAft>
              <a:buClr>
                <a:schemeClr val="dk1"/>
              </a:buClr>
              <a:buSzPct val="100000"/>
              <a:buFont typeface="Oswald"/>
              <a:buChar char="●"/>
            </a:pPr>
            <a:r>
              <a:rPr lang="en-GB" sz="2800">
                <a:solidFill>
                  <a:schemeClr val="dk1"/>
                </a:solidFill>
                <a:latin typeface="Oswald"/>
                <a:ea typeface="Oswald"/>
                <a:cs typeface="Oswald"/>
                <a:sym typeface="Oswald"/>
              </a:rPr>
              <a:t>Educate recruiters and candidates on how AI screening systems work</a:t>
            </a:r>
            <a:endParaRPr sz="2800">
              <a:solidFill>
                <a:schemeClr val="dk1"/>
              </a:solidFill>
              <a:latin typeface="Oswald"/>
              <a:ea typeface="Oswald"/>
              <a:cs typeface="Oswald"/>
              <a:sym typeface="Oswald"/>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50000"/>
              </a:lnSpc>
              <a:spcBef>
                <a:spcPts val="500"/>
              </a:spcBef>
              <a:spcAft>
                <a:spcPts val="0"/>
              </a:spcAft>
              <a:buNone/>
            </a:pPr>
            <a:r>
              <a:rPr lang="en-GB" sz="2650">
                <a:solidFill>
                  <a:srgbClr val="273540"/>
                </a:solidFill>
                <a:highlight>
                  <a:srgbClr val="FFFFFF"/>
                </a:highlight>
              </a:rPr>
              <a:t>Conclusion</a:t>
            </a:r>
            <a:endParaRPr sz="2650">
              <a:solidFill>
                <a:srgbClr val="273540"/>
              </a:solidFill>
              <a:highlight>
                <a:srgbClr val="FFFFFF"/>
              </a:highlight>
            </a:endParaRPr>
          </a:p>
          <a:p>
            <a:pPr indent="0" lvl="0" marL="0" rtl="0" algn="l">
              <a:spcBef>
                <a:spcPts val="500"/>
              </a:spcBef>
              <a:spcAft>
                <a:spcPts val="0"/>
              </a:spcAft>
              <a:buNone/>
            </a:pPr>
            <a:r>
              <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7500" lnSpcReduction="10000"/>
          </a:bodyPr>
          <a:lstStyle/>
          <a:p>
            <a:pPr indent="0" lvl="0" marL="0" rtl="0" algn="l">
              <a:spcBef>
                <a:spcPts val="1200"/>
              </a:spcBef>
              <a:spcAft>
                <a:spcPts val="0"/>
              </a:spcAft>
              <a:buNone/>
            </a:pPr>
            <a:r>
              <a:rPr lang="en-GB" sz="4350">
                <a:solidFill>
                  <a:schemeClr val="dk1"/>
                </a:solidFill>
                <a:latin typeface="Oswald"/>
                <a:ea typeface="Oswald"/>
                <a:cs typeface="Oswald"/>
                <a:sym typeface="Oswald"/>
              </a:rPr>
              <a:t>AI is changing how companies hire people in good and bad ways. It can make hiring faster and help sort through lots of job applications more easily. It may also help reduce some bias in decisions.</a:t>
            </a:r>
            <a:endParaRPr sz="4350">
              <a:solidFill>
                <a:schemeClr val="dk1"/>
              </a:solidFill>
              <a:latin typeface="Oswald"/>
              <a:ea typeface="Oswald"/>
              <a:cs typeface="Oswald"/>
              <a:sym typeface="Oswald"/>
            </a:endParaRPr>
          </a:p>
          <a:p>
            <a:pPr indent="0" lvl="0" marL="0" rtl="0" algn="l">
              <a:spcBef>
                <a:spcPts val="1200"/>
              </a:spcBef>
              <a:spcAft>
                <a:spcPts val="0"/>
              </a:spcAft>
              <a:buNone/>
            </a:pPr>
            <a:r>
              <a:rPr lang="en-GB" sz="4350">
                <a:solidFill>
                  <a:schemeClr val="dk1"/>
                </a:solidFill>
                <a:latin typeface="Oswald"/>
                <a:ea typeface="Oswald"/>
                <a:cs typeface="Oswald"/>
                <a:sym typeface="Oswald"/>
              </a:rPr>
              <a:t>But it also has problems. AI can repeat unfair patterns from past data and may miss important things about people, like personality or communication skills. Sometimes it can also feel less personal.</a:t>
            </a:r>
            <a:endParaRPr sz="4350">
              <a:solidFill>
                <a:schemeClr val="dk1"/>
              </a:solidFill>
              <a:latin typeface="Oswald"/>
              <a:ea typeface="Oswald"/>
              <a:cs typeface="Oswald"/>
              <a:sym typeface="Oswald"/>
            </a:endParaRPr>
          </a:p>
          <a:p>
            <a:pPr indent="0" lvl="0" marL="0" rtl="0" algn="l">
              <a:spcBef>
                <a:spcPts val="1200"/>
              </a:spcBef>
              <a:spcAft>
                <a:spcPts val="0"/>
              </a:spcAft>
              <a:buNone/>
            </a:pPr>
            <a:r>
              <a:rPr lang="en-GB" sz="4350">
                <a:solidFill>
                  <a:schemeClr val="dk1"/>
                </a:solidFill>
                <a:latin typeface="Oswald"/>
                <a:ea typeface="Oswald"/>
                <a:cs typeface="Oswald"/>
                <a:sym typeface="Oswald"/>
              </a:rPr>
              <a:t>Overall, AI is helpful in hiring, but it works best when people are still involved to make fair and careful decisions.</a:t>
            </a:r>
            <a:endParaRPr sz="4350">
              <a:solidFill>
                <a:schemeClr val="dk1"/>
              </a:solidFill>
              <a:latin typeface="Oswald"/>
              <a:ea typeface="Oswald"/>
              <a:cs typeface="Oswald"/>
              <a:sym typeface="Oswald"/>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50000"/>
              </a:lnSpc>
              <a:spcBef>
                <a:spcPts val="500"/>
              </a:spcBef>
              <a:spcAft>
                <a:spcPts val="0"/>
              </a:spcAft>
              <a:buNone/>
            </a:pPr>
            <a:r>
              <a:rPr lang="en-GB" sz="2650">
                <a:solidFill>
                  <a:srgbClr val="273540"/>
                </a:solidFill>
                <a:highlight>
                  <a:srgbClr val="FFFFFF"/>
                </a:highlight>
              </a:rPr>
              <a:t>References</a:t>
            </a:r>
            <a:endParaRPr sz="2650">
              <a:solidFill>
                <a:srgbClr val="273540"/>
              </a:solidFill>
              <a:highlight>
                <a:srgbClr val="FFFFFF"/>
              </a:highlight>
            </a:endParaRPr>
          </a:p>
          <a:p>
            <a:pPr indent="0" lvl="0" marL="0" rtl="0" algn="l">
              <a:spcBef>
                <a:spcPts val="500"/>
              </a:spcBef>
              <a:spcAft>
                <a:spcPts val="0"/>
              </a:spcAft>
              <a:buNone/>
            </a:pPr>
            <a:r>
              <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400">
                <a:solidFill>
                  <a:schemeClr val="dk1"/>
                </a:solidFill>
                <a:latin typeface="Oswald"/>
                <a:ea typeface="Oswald"/>
                <a:cs typeface="Oswald"/>
                <a:sym typeface="Oswald"/>
              </a:rPr>
              <a:t>Brown, T. B., Mann, B., Ryder, N., Subbiah, M., Kaplan, J., Dhariwal, P., ... &amp; Amodei, D. (2020). Language models are few-shot learners. </a:t>
            </a:r>
            <a:r>
              <a:rPr i="1" lang="en-GB" sz="1400">
                <a:solidFill>
                  <a:schemeClr val="dk1"/>
                </a:solidFill>
                <a:latin typeface="Oswald"/>
                <a:ea typeface="Oswald"/>
                <a:cs typeface="Oswald"/>
                <a:sym typeface="Oswald"/>
              </a:rPr>
              <a:t>Advances in Neural Information Processing Systems, 33</a:t>
            </a:r>
            <a:r>
              <a:rPr lang="en-GB" sz="1400">
                <a:solidFill>
                  <a:schemeClr val="dk1"/>
                </a:solidFill>
                <a:latin typeface="Oswald"/>
                <a:ea typeface="Oswald"/>
                <a:cs typeface="Oswald"/>
                <a:sym typeface="Oswald"/>
              </a:rPr>
              <a:t>, 1877–1901.</a:t>
            </a:r>
            <a:r>
              <a:rPr lang="en-GB" sz="1400">
                <a:solidFill>
                  <a:schemeClr val="dk1"/>
                </a:solidFill>
                <a:uFill>
                  <a:noFill/>
                </a:uFill>
                <a:latin typeface="Oswald"/>
                <a:ea typeface="Oswald"/>
                <a:cs typeface="Oswald"/>
                <a:sym typeface="Oswald"/>
                <a:hlinkClick r:id="rId3">
                  <a:extLst>
                    <a:ext uri="{A12FA001-AC4F-418D-AE19-62706E023703}">
                      <ahyp:hlinkClr val="tx"/>
                    </a:ext>
                  </a:extLst>
                </a:hlinkClick>
              </a:rPr>
              <a:t> </a:t>
            </a:r>
            <a:r>
              <a:rPr lang="en-GB" sz="1400" u="sng">
                <a:solidFill>
                  <a:schemeClr val="dk1"/>
                </a:solidFill>
                <a:latin typeface="Oswald"/>
                <a:ea typeface="Oswald"/>
                <a:cs typeface="Oswald"/>
                <a:sym typeface="Oswald"/>
                <a:hlinkClick r:id="rId4">
                  <a:extLst>
                    <a:ext uri="{A12FA001-AC4F-418D-AE19-62706E023703}">
                      <ahyp:hlinkClr val="tx"/>
                    </a:ext>
                  </a:extLst>
                </a:hlinkClick>
              </a:rPr>
              <a:t>https://arxiv.org/abs/2005.14165</a:t>
            </a:r>
            <a:endParaRPr sz="1400" u="sng">
              <a:solidFill>
                <a:schemeClr val="dk1"/>
              </a:solidFill>
              <a:latin typeface="Oswald"/>
              <a:ea typeface="Oswald"/>
              <a:cs typeface="Oswald"/>
              <a:sym typeface="Oswald"/>
            </a:endParaRPr>
          </a:p>
          <a:p>
            <a:pPr indent="0" lvl="0" marL="0" rtl="0" algn="l">
              <a:spcBef>
                <a:spcPts val="1200"/>
              </a:spcBef>
              <a:spcAft>
                <a:spcPts val="0"/>
              </a:spcAft>
              <a:buNone/>
            </a:pPr>
            <a:r>
              <a:rPr lang="en-GB" sz="1400">
                <a:solidFill>
                  <a:schemeClr val="dk1"/>
                </a:solidFill>
                <a:latin typeface="Oswald"/>
                <a:ea typeface="Oswald"/>
                <a:cs typeface="Oswald"/>
                <a:sym typeface="Oswald"/>
              </a:rPr>
              <a:t>Bender, E. M., Gebru, T., McMillan-Major, A., &amp; Shmitchell, S. (2021). On the dangers of stochastic parrots: Can language models be too big? </a:t>
            </a:r>
            <a:r>
              <a:rPr i="1" lang="en-GB" sz="1400">
                <a:solidFill>
                  <a:schemeClr val="dk1"/>
                </a:solidFill>
                <a:latin typeface="Oswald"/>
                <a:ea typeface="Oswald"/>
                <a:cs typeface="Oswald"/>
                <a:sym typeface="Oswald"/>
              </a:rPr>
              <a:t>Proceedings of the 2021 ACM Conference on Fairness, Accountability, and Transparency</a:t>
            </a:r>
            <a:r>
              <a:rPr lang="en-GB" sz="1400">
                <a:solidFill>
                  <a:schemeClr val="dk1"/>
                </a:solidFill>
                <a:latin typeface="Oswald"/>
                <a:ea typeface="Oswald"/>
                <a:cs typeface="Oswald"/>
                <a:sym typeface="Oswald"/>
              </a:rPr>
              <a:t>, 610–623.</a:t>
            </a:r>
            <a:r>
              <a:rPr lang="en-GB" sz="1400">
                <a:solidFill>
                  <a:schemeClr val="dk1"/>
                </a:solidFill>
                <a:uFill>
                  <a:noFill/>
                </a:uFill>
                <a:latin typeface="Oswald"/>
                <a:ea typeface="Oswald"/>
                <a:cs typeface="Oswald"/>
                <a:sym typeface="Oswald"/>
                <a:hlinkClick r:id="rId5">
                  <a:extLst>
                    <a:ext uri="{A12FA001-AC4F-418D-AE19-62706E023703}">
                      <ahyp:hlinkClr val="tx"/>
                    </a:ext>
                  </a:extLst>
                </a:hlinkClick>
              </a:rPr>
              <a:t> </a:t>
            </a:r>
            <a:r>
              <a:rPr lang="en-GB" sz="1400" u="sng">
                <a:solidFill>
                  <a:schemeClr val="dk1"/>
                </a:solidFill>
                <a:latin typeface="Oswald"/>
                <a:ea typeface="Oswald"/>
                <a:cs typeface="Oswald"/>
                <a:sym typeface="Oswald"/>
                <a:hlinkClick r:id="rId6">
                  <a:extLst>
                    <a:ext uri="{A12FA001-AC4F-418D-AE19-62706E023703}">
                      <ahyp:hlinkClr val="tx"/>
                    </a:ext>
                  </a:extLst>
                </a:hlinkClick>
              </a:rPr>
              <a:t>https://doi.org/10.1145/3442188.3445922</a:t>
            </a:r>
            <a:endParaRPr sz="1400" u="sng">
              <a:solidFill>
                <a:schemeClr val="dk1"/>
              </a:solidFill>
              <a:latin typeface="Oswald"/>
              <a:ea typeface="Oswald"/>
              <a:cs typeface="Oswald"/>
              <a:sym typeface="Oswald"/>
            </a:endParaRPr>
          </a:p>
          <a:p>
            <a:pPr indent="0" lvl="0" marL="0" rtl="0" algn="l">
              <a:spcBef>
                <a:spcPts val="1200"/>
              </a:spcBef>
              <a:spcAft>
                <a:spcPts val="0"/>
              </a:spcAft>
              <a:buNone/>
            </a:pPr>
            <a:r>
              <a:rPr lang="en-GB" sz="1400">
                <a:solidFill>
                  <a:schemeClr val="dk1"/>
                </a:solidFill>
                <a:latin typeface="Oswald"/>
                <a:ea typeface="Oswald"/>
                <a:cs typeface="Oswald"/>
                <a:sym typeface="Oswald"/>
              </a:rPr>
              <a:t>Vaswani, A., Shazeer, N., Parmar, N., Uszkoreit, J., Jones, L., Gomez, A. N., ... &amp; Polosukhin, I. (2017). Attention is all you need. </a:t>
            </a:r>
            <a:r>
              <a:rPr i="1" lang="en-GB" sz="1400">
                <a:solidFill>
                  <a:schemeClr val="dk1"/>
                </a:solidFill>
                <a:latin typeface="Oswald"/>
                <a:ea typeface="Oswald"/>
                <a:cs typeface="Oswald"/>
                <a:sym typeface="Oswald"/>
              </a:rPr>
              <a:t>Advances in Neural Information Processing Systems, 30</a:t>
            </a:r>
            <a:r>
              <a:rPr lang="en-GB" sz="1400">
                <a:solidFill>
                  <a:schemeClr val="dk1"/>
                </a:solidFill>
                <a:latin typeface="Oswald"/>
                <a:ea typeface="Oswald"/>
                <a:cs typeface="Oswald"/>
                <a:sym typeface="Oswald"/>
              </a:rPr>
              <a:t>.</a:t>
            </a:r>
            <a:r>
              <a:rPr lang="en-GB" sz="1400">
                <a:solidFill>
                  <a:schemeClr val="dk1"/>
                </a:solidFill>
                <a:uFill>
                  <a:noFill/>
                </a:uFill>
                <a:latin typeface="Oswald"/>
                <a:ea typeface="Oswald"/>
                <a:cs typeface="Oswald"/>
                <a:sym typeface="Oswald"/>
                <a:hlinkClick r:id="rId7">
                  <a:extLst>
                    <a:ext uri="{A12FA001-AC4F-418D-AE19-62706E023703}">
                      <ahyp:hlinkClr val="tx"/>
                    </a:ext>
                  </a:extLst>
                </a:hlinkClick>
              </a:rPr>
              <a:t> </a:t>
            </a:r>
            <a:r>
              <a:rPr lang="en-GB" sz="1400" u="sng">
                <a:solidFill>
                  <a:schemeClr val="dk1"/>
                </a:solidFill>
                <a:latin typeface="Oswald"/>
                <a:ea typeface="Oswald"/>
                <a:cs typeface="Oswald"/>
                <a:sym typeface="Oswald"/>
                <a:hlinkClick r:id="rId8">
                  <a:extLst>
                    <a:ext uri="{A12FA001-AC4F-418D-AE19-62706E023703}">
                      <ahyp:hlinkClr val="tx"/>
                    </a:ext>
                  </a:extLst>
                </a:hlinkClick>
              </a:rPr>
              <a:t>https://arxiv.org/abs/1706.03762</a:t>
            </a:r>
            <a:endParaRPr sz="1400" u="sng">
              <a:solidFill>
                <a:schemeClr val="dk1"/>
              </a:solidFill>
              <a:latin typeface="Oswald"/>
              <a:ea typeface="Oswald"/>
              <a:cs typeface="Oswald"/>
              <a:sym typeface="Oswald"/>
            </a:endParaRPr>
          </a:p>
          <a:p>
            <a:pPr indent="0" lvl="0" marL="0" rtl="0" algn="l">
              <a:spcBef>
                <a:spcPts val="1200"/>
              </a:spcBef>
              <a:spcAft>
                <a:spcPts val="0"/>
              </a:spcAft>
              <a:buNone/>
            </a:pPr>
            <a:r>
              <a:rPr lang="en-GB" sz="1400">
                <a:solidFill>
                  <a:schemeClr val="dk1"/>
                </a:solidFill>
                <a:latin typeface="Oswald"/>
                <a:ea typeface="Oswald"/>
                <a:cs typeface="Oswald"/>
                <a:sym typeface="Oswald"/>
              </a:rPr>
              <a:t>National Institute of Standards and Technology. (2023). </a:t>
            </a:r>
            <a:r>
              <a:rPr i="1" lang="en-GB" sz="1400">
                <a:solidFill>
                  <a:schemeClr val="dk1"/>
                </a:solidFill>
                <a:latin typeface="Oswald"/>
                <a:ea typeface="Oswald"/>
                <a:cs typeface="Oswald"/>
                <a:sym typeface="Oswald"/>
              </a:rPr>
              <a:t>AI risk management framework (AI RMF 1.0)</a:t>
            </a:r>
            <a:r>
              <a:rPr lang="en-GB" sz="1400">
                <a:solidFill>
                  <a:schemeClr val="dk1"/>
                </a:solidFill>
                <a:latin typeface="Oswald"/>
                <a:ea typeface="Oswald"/>
                <a:cs typeface="Oswald"/>
                <a:sym typeface="Oswald"/>
              </a:rPr>
              <a:t>. https://www.nist.gov/ai</a:t>
            </a:r>
            <a:endParaRPr sz="1400">
              <a:solidFill>
                <a:schemeClr val="dk1"/>
              </a:solidFill>
              <a:latin typeface="Oswald"/>
              <a:ea typeface="Oswald"/>
              <a:cs typeface="Oswald"/>
              <a:sym typeface="Oswald"/>
            </a:endParaRPr>
          </a:p>
          <a:p>
            <a:pPr indent="0" lvl="0" marL="0" rtl="0" algn="l">
              <a:spcBef>
                <a:spcPts val="1200"/>
              </a:spcBef>
              <a:spcAft>
                <a:spcPts val="0"/>
              </a:spcAft>
              <a:buNone/>
            </a:pPr>
            <a:r>
              <a:rPr lang="en-GB" sz="1400">
                <a:solidFill>
                  <a:schemeClr val="dk1"/>
                </a:solidFill>
                <a:latin typeface="Oswald"/>
                <a:ea typeface="Oswald"/>
                <a:cs typeface="Oswald"/>
                <a:sym typeface="Oswald"/>
              </a:rPr>
              <a:t>UNESCO. (2021). </a:t>
            </a:r>
            <a:r>
              <a:rPr i="1" lang="en-GB" sz="1400">
                <a:solidFill>
                  <a:schemeClr val="dk1"/>
                </a:solidFill>
                <a:latin typeface="Oswald"/>
                <a:ea typeface="Oswald"/>
                <a:cs typeface="Oswald"/>
                <a:sym typeface="Oswald"/>
              </a:rPr>
              <a:t>Recommendation on the ethics of artificial intelligence</a:t>
            </a:r>
            <a:r>
              <a:rPr lang="en-GB" sz="1400">
                <a:solidFill>
                  <a:schemeClr val="dk1"/>
                </a:solidFill>
                <a:latin typeface="Oswald"/>
                <a:ea typeface="Oswald"/>
                <a:cs typeface="Oswald"/>
                <a:sym typeface="Oswald"/>
              </a:rPr>
              <a:t>. https://unesdoc.unesco.org/ark:/48223/pf0000380455</a:t>
            </a:r>
            <a:endParaRPr sz="1400">
              <a:solidFill>
                <a:schemeClr val="dk1"/>
              </a:solidFill>
              <a:latin typeface="Oswald"/>
              <a:ea typeface="Oswald"/>
              <a:cs typeface="Oswald"/>
              <a:sym typeface="Oswald"/>
            </a:endParaRPr>
          </a:p>
          <a:p>
            <a:pPr indent="0" lvl="0" marL="0" rtl="0" algn="l">
              <a:spcBef>
                <a:spcPts val="1200"/>
              </a:spcBef>
              <a:spcAft>
                <a:spcPts val="0"/>
              </a:spcAft>
              <a:buNone/>
            </a:pPr>
            <a:r>
              <a:rPr lang="en-GB" sz="1400">
                <a:solidFill>
                  <a:schemeClr val="dk1"/>
                </a:solidFill>
                <a:latin typeface="Oswald"/>
                <a:ea typeface="Oswald"/>
                <a:cs typeface="Oswald"/>
                <a:sym typeface="Oswald"/>
              </a:rPr>
              <a:t>World Economic Forum. (2023). </a:t>
            </a:r>
            <a:r>
              <a:rPr i="1" lang="en-GB" sz="1400">
                <a:solidFill>
                  <a:schemeClr val="dk1"/>
                </a:solidFill>
                <a:latin typeface="Oswald"/>
                <a:ea typeface="Oswald"/>
                <a:cs typeface="Oswald"/>
                <a:sym typeface="Oswald"/>
              </a:rPr>
              <a:t>The future of jobs report 2023</a:t>
            </a:r>
            <a:r>
              <a:rPr lang="en-GB" sz="1400">
                <a:solidFill>
                  <a:schemeClr val="dk1"/>
                </a:solidFill>
                <a:latin typeface="Oswald"/>
                <a:ea typeface="Oswald"/>
                <a:cs typeface="Oswald"/>
                <a:sym typeface="Oswald"/>
              </a:rPr>
              <a:t>.</a:t>
            </a:r>
            <a:r>
              <a:rPr lang="en-GB" sz="1400">
                <a:solidFill>
                  <a:schemeClr val="dk1"/>
                </a:solidFill>
                <a:uFill>
                  <a:noFill/>
                </a:uFill>
                <a:latin typeface="Oswald"/>
                <a:ea typeface="Oswald"/>
                <a:cs typeface="Oswald"/>
                <a:sym typeface="Oswald"/>
                <a:hlinkClick r:id="rId9">
                  <a:extLst>
                    <a:ext uri="{A12FA001-AC4F-418D-AE19-62706E023703}">
                      <ahyp:hlinkClr val="tx"/>
                    </a:ext>
                  </a:extLst>
                </a:hlinkClick>
              </a:rPr>
              <a:t> </a:t>
            </a:r>
            <a:r>
              <a:rPr lang="en-GB" sz="1400" u="sng">
                <a:solidFill>
                  <a:schemeClr val="dk1"/>
                </a:solidFill>
                <a:latin typeface="Oswald"/>
                <a:ea typeface="Oswald"/>
                <a:cs typeface="Oswald"/>
                <a:sym typeface="Oswald"/>
                <a:hlinkClick r:id="rId10">
                  <a:extLst>
                    <a:ext uri="{A12FA001-AC4F-418D-AE19-62706E023703}">
                      <ahyp:hlinkClr val="tx"/>
                    </a:ext>
                  </a:extLst>
                </a:hlinkClick>
              </a:rPr>
              <a:t>https://www.weforum.org/reports/the-future-of-jobs-report-2023</a:t>
            </a:r>
            <a:endParaRPr sz="1400" u="sng">
              <a:solidFill>
                <a:schemeClr val="dk1"/>
              </a:solidFill>
              <a:latin typeface="Oswald"/>
              <a:ea typeface="Oswald"/>
              <a:cs typeface="Oswald"/>
              <a:sym typeface="Oswald"/>
            </a:endParaRPr>
          </a:p>
          <a:p>
            <a:pPr indent="0" lvl="0" marL="0" rtl="0" algn="l">
              <a:spcBef>
                <a:spcPts val="1200"/>
              </a:spcBef>
              <a:spcAft>
                <a:spcPts val="0"/>
              </a:spcAft>
              <a:buNone/>
            </a:pPr>
            <a:r>
              <a:rPr lang="en-GB" sz="1400">
                <a:solidFill>
                  <a:schemeClr val="dk1"/>
                </a:solidFill>
                <a:latin typeface="Oswald"/>
                <a:ea typeface="Oswald"/>
                <a:cs typeface="Oswald"/>
                <a:sym typeface="Oswald"/>
              </a:rPr>
              <a:t>OECD. (2019). </a:t>
            </a:r>
            <a:r>
              <a:rPr i="1" lang="en-GB" sz="1400">
                <a:solidFill>
                  <a:schemeClr val="dk1"/>
                </a:solidFill>
                <a:latin typeface="Oswald"/>
                <a:ea typeface="Oswald"/>
                <a:cs typeface="Oswald"/>
                <a:sym typeface="Oswald"/>
              </a:rPr>
              <a:t>OECD principles on artificial intelligence</a:t>
            </a:r>
            <a:r>
              <a:rPr lang="en-GB" sz="1400">
                <a:solidFill>
                  <a:schemeClr val="dk1"/>
                </a:solidFill>
                <a:latin typeface="Oswald"/>
                <a:ea typeface="Oswald"/>
                <a:cs typeface="Oswald"/>
                <a:sym typeface="Oswald"/>
              </a:rPr>
              <a:t>.</a:t>
            </a:r>
            <a:r>
              <a:rPr lang="en-GB" sz="1400">
                <a:solidFill>
                  <a:schemeClr val="dk1"/>
                </a:solidFill>
                <a:uFill>
                  <a:noFill/>
                </a:uFill>
                <a:latin typeface="Oswald"/>
                <a:ea typeface="Oswald"/>
                <a:cs typeface="Oswald"/>
                <a:sym typeface="Oswald"/>
                <a:hlinkClick r:id="rId11">
                  <a:extLst>
                    <a:ext uri="{A12FA001-AC4F-418D-AE19-62706E023703}">
                      <ahyp:hlinkClr val="tx"/>
                    </a:ext>
                  </a:extLst>
                </a:hlinkClick>
              </a:rPr>
              <a:t> </a:t>
            </a:r>
            <a:r>
              <a:rPr lang="en-GB" sz="1400" u="sng">
                <a:solidFill>
                  <a:schemeClr val="dk1"/>
                </a:solidFill>
                <a:latin typeface="Oswald"/>
                <a:ea typeface="Oswald"/>
                <a:cs typeface="Oswald"/>
                <a:sym typeface="Oswald"/>
                <a:hlinkClick r:id="rId12">
                  <a:extLst>
                    <a:ext uri="{A12FA001-AC4F-418D-AE19-62706E023703}">
                      <ahyp:hlinkClr val="tx"/>
                    </a:ext>
                  </a:extLst>
                </a:hlinkClick>
              </a:rPr>
              <a:t>https://oecd.ai/en/ai-principles</a:t>
            </a:r>
            <a:endParaRPr sz="1400" u="sng">
              <a:solidFill>
                <a:schemeClr val="dk1"/>
              </a:solidFill>
              <a:latin typeface="Oswald"/>
              <a:ea typeface="Oswald"/>
              <a:cs typeface="Oswald"/>
              <a:sym typeface="Oswald"/>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